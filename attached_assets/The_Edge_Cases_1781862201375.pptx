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BEFORE YOU START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Guidelines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66800" y="4111526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800" y="2955727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800" y="3193852"/>
            <a:ext cx="366415" cy="3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47515" y="3193852"/>
            <a:ext cx="8303727" cy="7271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13283F"/>
              </a:buClr>
              <a:buSzPts val="1873"/>
              <a:buFont typeface="Arial"/>
              <a:buNone/>
            </a:pP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Submit </a:t>
            </a:r>
            <a:r>
              <a:rPr b="1" i="0" lang="en-US" sz="1873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original ideas </a:t>
            </a: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that reflect your team's own thinking and innovation.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66800" y="4922788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66800" y="4349651"/>
            <a:ext cx="404961" cy="3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86061" y="4349651"/>
            <a:ext cx="7138394" cy="3826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3283F"/>
              </a:buClr>
              <a:buSzPts val="1873"/>
              <a:buFont typeface="Arial"/>
              <a:buNone/>
            </a:pP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Fill in </a:t>
            </a:r>
            <a:r>
              <a:rPr b="1" i="0" lang="en-US" sz="1873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all sections </a:t>
            </a: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following the instructions on each slide.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66800" y="5734050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066800" y="5160913"/>
            <a:ext cx="401538" cy="3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582638" y="5160913"/>
            <a:ext cx="7459849" cy="3826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Strictly use this template </a:t>
            </a: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— do not alter the slide structure.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66800" y="6889849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66800" y="5972175"/>
            <a:ext cx="407789" cy="3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588889" y="5972175"/>
            <a:ext cx="8261111" cy="7271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Early registrants have an advantage </a:t>
            </a: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— use this time to refine and strengthen your idea.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066800" y="8045648"/>
            <a:ext cx="85425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066800" y="7127974"/>
            <a:ext cx="401092" cy="3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582192" y="7127974"/>
            <a:ext cx="8268010" cy="7271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73"/>
              <a:buFont typeface="Arial"/>
              <a:buNone/>
            </a:pPr>
            <a:r>
              <a:rPr b="1" i="0" lang="en-US" sz="1873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Save and submit the deck with your team's name </a:t>
            </a:r>
            <a:r>
              <a:rPr b="0" i="0" lang="en-US" sz="1873" u="none" cap="none" strike="noStrike">
                <a:solidFill>
                  <a:srgbClr val="13283F"/>
                </a:solidFill>
                <a:latin typeface="Arial"/>
                <a:ea typeface="Arial"/>
                <a:cs typeface="Arial"/>
                <a:sym typeface="Arial"/>
              </a:rPr>
              <a:t>in the file name — without fail.</a:t>
            </a:r>
            <a:endParaRPr b="0" i="0" sz="1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218986" y="2955727"/>
            <a:ext cx="7002214" cy="5099447"/>
          </a:xfrm>
          <a:prstGeom prst="roundRect">
            <a:avLst>
              <a:gd fmla="val 2989" name="adj"/>
            </a:avLst>
          </a:prstGeom>
          <a:solidFill>
            <a:srgbClr val="004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657136" y="3355777"/>
            <a:ext cx="6309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STAY UPDATED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657136" y="3784402"/>
            <a:ext cx="6309692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Round 1 results will be announced on our InnovateZ LinkedIn page — follow it to catch every important update.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657136" y="4913114"/>
            <a:ext cx="343866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0657136" y="5494139"/>
            <a:ext cx="6125914" cy="9525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0657136" y="5770364"/>
            <a:ext cx="630969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SUBMISSIONS CLOSE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657136" y="6198989"/>
            <a:ext cx="630969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 June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0657136" y="7008614"/>
            <a:ext cx="6309692" cy="668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65"/>
              <a:buFont typeface="Arial"/>
              <a:buNone/>
            </a:pPr>
            <a:r>
              <a:rPr b="0" i="0" lang="en-US" sz="16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extended timeline gives you room to research, validate, and present your idea more effectively.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086851" y="8493323"/>
            <a:ext cx="1545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665"/>
              <a:buFont typeface="Arial"/>
              <a:buNone/>
            </a:pPr>
            <a:r>
              <a:rPr b="1" i="0" lang="en-US" sz="166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764631" y="8455223"/>
            <a:ext cx="109745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A strong submission clearly explains the problem, the solution, and the impact.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285875" y="9515475"/>
            <a:ext cx="397841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Build • Innovate • Get Recognized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6410682" y="9515475"/>
            <a:ext cx="88671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C86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619125"/>
            <a:ext cx="1770162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14216" y="657225"/>
            <a:ext cx="954584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066800" y="2354163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IDEA SUBMISSION · ROUND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66800" y="2916138"/>
            <a:ext cx="16639032" cy="1979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r>
              <a:rPr b="1" i="0" lang="en-US" sz="780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066800" y="5143202"/>
            <a:ext cx="10791825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Arial"/>
              <a:buNone/>
            </a:pPr>
            <a:r>
              <a:rPr b="0" i="0" lang="en-US" sz="2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real product-innovation hackathon — from idea to MVP to startup. This is your one-page pitch for the Innovation Round.</a:t>
            </a:r>
            <a:endParaRPr b="0" i="0" sz="21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66800" y="6685062"/>
            <a:ext cx="16154400" cy="9525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42025" y="6694587"/>
            <a:ext cx="9525" cy="1295400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66800" y="7018437"/>
            <a:ext cx="510480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066800" y="7466112"/>
            <a:ext cx="510480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Edge Cases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826776" y="6694587"/>
            <a:ext cx="9525" cy="1295400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451550" y="7018437"/>
            <a:ext cx="510480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COLLEGE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51550" y="7466112"/>
            <a:ext cx="510480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836301" y="7018437"/>
            <a:ext cx="55462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BRANCH · YEAR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836301" y="7466112"/>
            <a:ext cx="554629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Computer Science · 2nd Year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Ideas. Code. Impact.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6373029" y="9515475"/>
            <a:ext cx="924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WHAT CHALLENGE ARE YOU SOLVING?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066800" y="3012877"/>
            <a:ext cx="65755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INDUSTRY / 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66800" y="3460552"/>
            <a:ext cx="6575502" cy="8646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8"/>
              <a:buFont typeface="Arial"/>
              <a:buNone/>
            </a:pPr>
            <a:r>
              <a:rPr b="0" i="0" lang="en-US" sz="212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MSME Finance - B2B receivables (FinTech + LegalTech)</a:t>
            </a:r>
            <a:endParaRPr b="0" i="0" sz="212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66800" y="4744343"/>
            <a:ext cx="65755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TARGET CUSTOMERS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66800" y="5192025"/>
            <a:ext cx="65754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Udyam-registered micro &amp; small B2B suppliers, job-work manufacturers, small agencies  without a dedicated AR team. </a:t>
            </a:r>
            <a:endParaRPr b="0" i="0" sz="23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Addressable base: ~3–4 crore businesses (MSME Ministry, Feb 2026)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912675" y="2689025"/>
            <a:ext cx="9793200" cy="6950400"/>
          </a:xfrm>
          <a:prstGeom prst="roundRect">
            <a:avLst>
              <a:gd fmla="val 2030" name="adj"/>
            </a:avLst>
          </a:prstGeom>
          <a:solidFill>
            <a:srgbClr val="F4F7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157307" y="2964239"/>
            <a:ext cx="8336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PROBLEM DESCRIPTION &amp; CONTEXT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157307" y="3388350"/>
            <a:ext cx="2625000" cy="1000000"/>
          </a:xfrm>
          <a:prstGeom prst="roundRect">
            <a:avLst>
              <a:gd fmla="val 8000" name="adj"/>
            </a:avLst>
          </a:prstGeom>
          <a:solidFill>
            <a:srgbClr val="004C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₹22,000 Cr+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D5EA"/>
                </a:solidFill>
                <a:latin typeface="Arial"/>
                <a:ea typeface="Arial"/>
                <a:cs typeface="Arial"/>
                <a:sym typeface="Arial"/>
              </a:rPr>
              <a:t>tied up in delayed payments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013807" y="3388350"/>
            <a:ext cx="2625000" cy="1000000"/>
          </a:xfrm>
          <a:prstGeom prst="roundRect">
            <a:avLst>
              <a:gd fmla="val 8000" name="adj"/>
            </a:avLst>
          </a:prstGeom>
          <a:solidFill>
            <a:srgbClr val="FFF0E8"/>
          </a:solidFill>
          <a:ln cap="flat" cmpd="sng" w="19050">
            <a:solidFill>
              <a:srgbClr val="F564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176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avg. payment wait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3870307" y="3388350"/>
            <a:ext cx="2625000" cy="1000000"/>
          </a:xfrm>
          <a:prstGeom prst="roundRect">
            <a:avLst>
              <a:gd fmla="val 8000" name="adj"/>
            </a:avLst>
          </a:prstGeom>
          <a:solidFill>
            <a:srgbClr val="F4F7F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45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statutory legal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276950" y="4640000"/>
            <a:ext cx="91554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That figure is just the visible tip. Research estimates India's MSME sector holds ₹10–15 lakh crore in B2B receivables outstanding beyond 45 days annually. Recovering even 1% would unlock ₹10,000+ crore in working capital. Bakaya charges a 2–5% facilitation fee on recovered amounts — a ₹200–500 crore revenue opportunity at modest penetration.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157300" y="6264096"/>
            <a:ext cx="8336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THE REAL CHALLENGE — RELATIONSHIPS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400" u="none" cap="none" strike="noStrike">
              <a:solidFill>
                <a:srgbClr val="F564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276950" y="6830050"/>
            <a:ext cx="9155400" cy="2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 most MSMEs, the owner handles collections personally. Owners avoid chasing payments to protect relationships, so critical working capital remains stuck for months. Research shows micro-enterprises wait an average of 176 days to receive payment - nearly 4× the legal limit. Bakaya projects sub-90-day resolution for eligible invoices - not as an operational goal, but as a structural outcome: buyers face a 75% deposit-to-appeal requirement and a 43B(h) tax disallowance on the outstanding amount, making early settlement the rational choice before ODR is even filed.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6376452" y="9515475"/>
            <a:ext cx="9209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HOW WOULD YOU SOLVE IT?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836938" y="2124075"/>
            <a:ext cx="666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 /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82450" y="2936675"/>
            <a:ext cx="16138800" cy="5587500"/>
          </a:xfrm>
          <a:prstGeom prst="roundRect">
            <a:avLst>
              <a:gd fmla="val 3241" name="adj"/>
            </a:avLst>
          </a:prstGeom>
          <a:solidFill>
            <a:srgbClr val="F4F7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298650" y="3052683"/>
            <a:ext cx="15638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25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YOUR SOLUTION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317700" y="3501925"/>
            <a:ext cx="15600300" cy="4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6426"/>
                </a:solidFill>
                <a:latin typeface="Calibri"/>
                <a:ea typeface="Calibri"/>
                <a:cs typeface="Calibri"/>
                <a:sym typeface="Calibri"/>
              </a:rPr>
              <a:t> Bakaya AI</a:t>
            </a:r>
            <a:r>
              <a:rPr b="0" i="0" lang="en-US" sz="24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0" i="0" lang="en-US" sz="23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Large firms run dedicated accounts-receivable desks to chase payments and protect cash flow. Bakaya gives that same capability to MSMEs that cannot afford one.</a:t>
            </a:r>
            <a:endParaRPr b="0" i="0" sz="23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B5B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What it does:</a:t>
            </a:r>
            <a:r>
              <a:rPr b="0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 An agentic system that monitors invoices against the MSMED statutory timeline. It sends reminders in the supplier's trade language, tracks legal interest accruals in real time, and auto-compiles evidence packs for the MSME ODR Portal.</a:t>
            </a:r>
            <a:endParaRPr b="0" i="0" sz="25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B5B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How it solves:</a:t>
            </a:r>
            <a:r>
              <a:rPr b="0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 The primary barrier to recovery is relationship friction, not workflow complexity. By stepping in as an external "AR desk," Bakaya depersonalizes the collection follow-up. This allows the supplier to leverage statutory timelines and recover cash flow without burning client goodwill. A rules-based tool can track dates — only an agentic AI can read the room, draft in the supplier’s language, and adapt its tone as the relationship evolves.</a:t>
            </a:r>
            <a:endParaRPr b="0" i="0" sz="25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B5B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Key value prop:</a:t>
            </a:r>
            <a:r>
              <a:rPr b="0" i="0" lang="en-US" sz="2500" u="none" cap="none" strike="noStrike">
                <a:solidFill>
                  <a:srgbClr val="0F2B5B"/>
                </a:solidFill>
                <a:latin typeface="Calibri"/>
                <a:ea typeface="Calibri"/>
                <a:cs typeface="Calibri"/>
                <a:sym typeface="Calibri"/>
              </a:rPr>
              <a:t> Guaranteed relationship safety, rapid capital recovery, and silent legal enforcement.</a:t>
            </a:r>
            <a:endParaRPr b="0" i="0" sz="2500" u="none" cap="none" strike="noStrike">
              <a:solidFill>
                <a:srgbClr val="0F2B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1" lang="en-US" sz="2100" u="none" cap="none" strike="noStrike">
                <a:solidFill>
                  <a:srgbClr val="F56426"/>
                </a:solidFill>
                <a:latin typeface="Calibri"/>
                <a:ea typeface="Calibri"/>
                <a:cs typeface="Calibri"/>
                <a:sym typeface="Calibri"/>
              </a:rPr>
              <a:t>The real blocker is fear, not process — so the desk chases, never the owner. And the buyer’s cost of stalling just changed.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6369457" y="9515475"/>
            <a:ext cx="927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HOW WOULD YOU SOLVE IT?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836938" y="2124075"/>
            <a:ext cx="711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66800" y="2936677"/>
            <a:ext cx="16154400" cy="5943600"/>
          </a:xfrm>
          <a:prstGeom prst="roundRect">
            <a:avLst>
              <a:gd fmla="val 2244" name="adj"/>
            </a:avLst>
          </a:prstGeom>
          <a:solidFill>
            <a:srgbClr val="F4F7FB"/>
          </a:solidFill>
          <a:ln cap="flat" cmpd="sng" w="9525">
            <a:solidFill>
              <a:srgbClr val="C7D6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552575" y="3384352"/>
            <a:ext cx="156383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WORKED EXAMPLE  — THE ESCALATION LADDER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552575" y="3760000"/>
            <a:ext cx="15638336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Context:  </a:t>
            </a:r>
            <a:r>
              <a:rPr b="0" i="0" lang="en-US" sz="2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Selvam runs a Tirupur garment unit. A buyer owes ₹1.8 L past the 45-day mark - Bakaya escalates automatically, with the owner approving every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958860" y="5125753"/>
            <a:ext cx="12370280" cy="28575"/>
          </a:xfrm>
          <a:prstGeom prst="roundRect">
            <a:avLst>
              <a:gd fmla="val 50000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638820" y="4820000"/>
            <a:ext cx="640080" cy="640080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552575" y="5620000"/>
            <a:ext cx="281257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DAY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552575" y="5950000"/>
            <a:ext cx="281257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Eligibility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552575" y="6760000"/>
            <a:ext cx="281257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Bakaya matches the invoice dates against Selvam's Udyam registration to confirm the MSMED clock applies.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731390" y="4820000"/>
            <a:ext cx="640080" cy="640080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45145" y="5620000"/>
            <a:ext cx="281257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DAY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645145" y="5950000"/>
            <a:ext cx="281257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Relationship-Safe Nudge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45145" y="6760000"/>
            <a:ext cx="281257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polite WhatsApp reminder goes out in Tamil, sent under the business's name rather than Selvam's own.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823960" y="4820000"/>
            <a:ext cx="640080" cy="640080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737715" y="5620000"/>
            <a:ext cx="281257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DAY 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737715" y="5950000"/>
            <a:ext cx="281257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The Tax Nudge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737715" y="6760000"/>
            <a:ext cx="281257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Bakaya flags that statutory interest is now accruing, and reminds the buyer of the Section 43B(h) tax cost of paying late.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916530" y="4820000"/>
            <a:ext cx="640080" cy="640080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830285" y="5620000"/>
            <a:ext cx="281257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DAY 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830285" y="5950000"/>
            <a:ext cx="281257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Formal Demand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0830285" y="6760000"/>
            <a:ext cx="281257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Bakaya drafts a formal demand notice setting out the exact dues plus compound interest at three times the RBI rate.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5009100" y="4820000"/>
            <a:ext cx="640080" cy="640080"/>
          </a:xfrm>
          <a:prstGeom prst="ellipse">
            <a:avLst/>
          </a:prstGeom>
          <a:solidFill>
            <a:srgbClr val="004C8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3922855" y="5620000"/>
            <a:ext cx="281257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DAY 90+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3922855" y="5950000"/>
            <a:ext cx="281257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ODR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3922855" y="6760000"/>
            <a:ext cx="281257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Bakaya assembles a full filing pack - purchase orders, delivery logs, interest workings — ready to submit to the MSME ODR portal.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552575" y="8046849"/>
            <a:ext cx="15653993" cy="65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2100" u="none" cap="none" strike="noStrike">
                <a:solidFill>
                  <a:srgbClr val="004C86"/>
                </a:solidFill>
                <a:latin typeface="Calibri"/>
                <a:ea typeface="Calibri"/>
                <a:cs typeface="Calibri"/>
                <a:sym typeface="Calibri"/>
              </a:rPr>
              <a:t>Why the escalation is credible</a:t>
            </a:r>
            <a:r>
              <a:rPr b="0" i="0" lang="en-US" sz="1800" u="none" cap="none" strike="noStrike">
                <a:solidFill>
                  <a:srgbClr val="004C8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900" u="none" cap="none" strike="noStrike">
                <a:solidFill>
                  <a:srgbClr val="004C86"/>
                </a:solidFill>
                <a:latin typeface="Calibri"/>
                <a:ea typeface="Calibri"/>
                <a:cs typeface="Calibri"/>
                <a:sym typeface="Calibri"/>
              </a:rPr>
              <a:t> The supplier files at no cost · the council must rule within 90 days · buyers must deposit 75% of any award to appeal, so they cannot simply stall.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6373773" y="9515475"/>
            <a:ext cx="9236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WHAT TECHNOLOGY POWERS IT?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Solution Components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988512" y="2543151"/>
            <a:ext cx="816055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79400" y="2909150"/>
            <a:ext cx="7914900" cy="3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Agentic LLM Layer: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Tone-regulated notices, nudges, and escalation drafts - in the supplier's language. </a:t>
            </a:r>
            <a:endParaRPr b="0" i="0" sz="22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Deterministic Rules Engine: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45-day clock, compound interest at 3× RBI rate, 43B(h) boundaries — no LLM involved in legal math.</a:t>
            </a:r>
            <a:endParaRPr b="0" i="0" sz="22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Localization Integration: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Bhashini-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powered vernacular drafting. </a:t>
            </a:r>
            <a:endParaRPr b="0" i="0" sz="22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Distribution &amp; Assembly: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WhatsApp Business API 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 outbound delivery · automated PDF generation for evidence packs. </a:t>
            </a:r>
            <a:endParaRPr b="0" i="0" sz="22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Core Stack: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React 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b="0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1" i="0" sz="22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88487" y="6850000"/>
            <a:ext cx="8160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KEY ASSUMPTIONS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988525" y="7330000"/>
            <a:ext cx="79149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supplier holds a valid Udyam registration before invoicing.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Invoice data is importable from existing tools (Tally, Zoho, Vyapar) or entered manually.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Buyers are reachable via WhatsApp or email.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Formal legal filings are always initiated by the user, not the platform.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143109" y="2574468"/>
            <a:ext cx="8532158" cy="7085969"/>
          </a:xfrm>
          <a:prstGeom prst="roundRect">
            <a:avLst>
              <a:gd fmla="val 2320" name="adj"/>
            </a:avLst>
          </a:prstGeom>
          <a:solidFill>
            <a:srgbClr val="F4F7FB"/>
          </a:solidFill>
          <a:ln cap="flat" cmpd="sng" w="19050">
            <a:solidFill>
              <a:srgbClr val="C7D6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1834193" y="2750000"/>
            <a:ext cx="31655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0000000" y="3220000"/>
            <a:ext cx="7400000" cy="500000"/>
          </a:xfrm>
          <a:prstGeom prst="roundRect">
            <a:avLst>
              <a:gd fmla="val 16667" name="adj"/>
            </a:avLst>
          </a:prstGeom>
          <a:solidFill>
            <a:srgbClr val="FFF0E8"/>
          </a:solidFill>
          <a:ln cap="flat" cmpd="sng" w="19050">
            <a:solidFill>
              <a:srgbClr val="F564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INVOICE INPUT 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Manual entry · Tally · Zoho · Vyapar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3600000" y="3730000"/>
            <a:ext cx="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000000" y="3980000"/>
            <a:ext cx="7400000" cy="550000"/>
          </a:xfrm>
          <a:prstGeom prst="roundRect">
            <a:avLst>
              <a:gd fmla="val 16667" name="adj"/>
            </a:avLst>
          </a:prstGeom>
          <a:solidFill>
            <a:srgbClr val="004C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 ENGINE  </a:t>
            </a:r>
            <a:r>
              <a:rPr b="0" i="0" lang="en-US" sz="1200" u="none" cap="none" strike="noStrike">
                <a:solidFill>
                  <a:srgbClr val="BDD5EA"/>
                </a:solidFill>
                <a:latin typeface="Arial"/>
                <a:ea typeface="Arial"/>
                <a:cs typeface="Arial"/>
                <a:sym typeface="Arial"/>
              </a:rPr>
              <a:t>45-day clock · eligibility · interest · 43B(h)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3600000" y="4540000"/>
            <a:ext cx="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000000" y="4790000"/>
            <a:ext cx="3450000" cy="5300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9050">
            <a:solidFill>
              <a:srgbClr val="004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LLM DRAFTING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Tone-regulated notices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510000" y="4980000"/>
            <a:ext cx="38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950000" y="4790000"/>
            <a:ext cx="3450000" cy="530000"/>
          </a:xfrm>
          <a:prstGeom prst="roundRect">
            <a:avLst>
              <a:gd fmla="val 16667" name="adj"/>
            </a:avLst>
          </a:prstGeom>
          <a:solidFill>
            <a:srgbClr val="E8F5F0"/>
          </a:solidFill>
          <a:ln cap="flat" cmpd="sng" w="19050">
            <a:solidFill>
              <a:srgbClr val="1A7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7F5A"/>
                </a:solidFill>
                <a:latin typeface="Arial"/>
                <a:ea typeface="Arial"/>
                <a:cs typeface="Arial"/>
                <a:sym typeface="Arial"/>
              </a:rPr>
              <a:t>BHASHINI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Vernacular 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600000" y="5330000"/>
            <a:ext cx="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000000" y="5580000"/>
            <a:ext cx="7400000" cy="520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DELIVERY LAYER 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WhatsApp Business API · Email — owner approves each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3600000" y="6110000"/>
            <a:ext cx="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000000" y="6360000"/>
            <a:ext cx="7400000" cy="520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ESCALATION STATE MACHINE 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Opt-in per stage · owner approval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600000" y="6890000"/>
            <a:ext cx="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000000" y="7140000"/>
            <a:ext cx="7400000" cy="520000"/>
          </a:xfrm>
          <a:prstGeom prst="roundRect">
            <a:avLst>
              <a:gd fmla="val 16667" name="adj"/>
            </a:avLst>
          </a:prstGeom>
          <a:solidFill>
            <a:srgbClr val="FFF0E8"/>
          </a:solidFill>
          <a:ln cap="flat" cmpd="sng" w="19050">
            <a:solidFill>
              <a:srgbClr val="F564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ODR FILING ASSEMBLER 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 · logs · interest workings → odr.msme.gov.in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6365141" y="9515475"/>
            <a:ext cx="93225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514350"/>
            <a:ext cx="195649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3067" y="561975"/>
            <a:ext cx="101813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42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HOW DO YOU STAND OUT?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4578"/>
              <a:buFont typeface="Arial"/>
              <a:buNone/>
            </a:pPr>
            <a:r>
              <a:rPr b="1" i="0" lang="en-US" sz="4579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b="0" i="0" sz="45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66800" y="3012877"/>
            <a:ext cx="5194250" cy="6131123"/>
          </a:xfrm>
          <a:prstGeom prst="roundRect">
            <a:avLst>
              <a:gd fmla="val 2934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476375" y="3441502"/>
            <a:ext cx="457200" cy="5715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476375" y="3784402"/>
            <a:ext cx="45063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Existing Solutions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476375" y="4308277"/>
            <a:ext cx="45063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Current alternatives in the market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476375" y="4889302"/>
            <a:ext cx="4506353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Vyapar / Khatabook / Zoho </a:t>
            </a:r>
            <a:r>
              <a:rPr b="0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invoice apps with generic payment reminders.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 &amp; legal recovery firms </a:t>
            </a:r>
            <a:r>
              <a:rPr b="0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file MSMEFC/ODR cases for a fee.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Govt MSME ODR Portal </a:t>
            </a:r>
            <a:r>
              <a:rPr b="0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free dispute resolution (launched 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Status quo </a:t>
            </a:r>
            <a:r>
              <a:rPr b="0" i="0" lang="en-US" sz="1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— the owner’s own awkward WhatsApp messages.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46800" y="3012877"/>
            <a:ext cx="5194250" cy="6131123"/>
          </a:xfrm>
          <a:prstGeom prst="roundRect">
            <a:avLst>
              <a:gd fmla="val 2934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956375" y="3441502"/>
            <a:ext cx="457200" cy="5715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956375" y="3784402"/>
            <a:ext cx="45063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8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4C86"/>
                </a:solidFill>
                <a:latin typeface="Arial"/>
                <a:ea typeface="Arial"/>
                <a:cs typeface="Arial"/>
                <a:sym typeface="Arial"/>
              </a:rPr>
              <a:t>Gaps &amp; Limitations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956375" y="4308277"/>
            <a:ext cx="45063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they fail to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956375" y="4670100"/>
            <a:ext cx="4506300" cy="4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8"/>
              <a:buFont typeface="Arial"/>
              <a:buNone/>
            </a:pPr>
            <a:r>
              <a:rPr b="1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Reminder apps</a:t>
            </a:r>
            <a:r>
              <a:rPr b="0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are legally blind: they lack tracking for the 45-day clock, interest accrual, and legal leverage.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57"/>
              <a:buFont typeface="Arial"/>
              <a:buNone/>
            </a:pPr>
            <a:r>
              <a:rPr b="1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Legal firms </a:t>
            </a:r>
            <a:r>
              <a:rPr b="0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charge upfront fees and only engage after the relationship is already damaged.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57"/>
              <a:buFont typeface="Arial"/>
              <a:buNone/>
            </a:pPr>
            <a:r>
              <a:rPr b="1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ODR Portal </a:t>
            </a:r>
            <a:r>
              <a:rPr b="0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starts only when a dispute is filed. Nothing addresses the window between an overdue invoice and active litigation.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57"/>
              <a:buFont typeface="Arial"/>
              <a:buNone/>
            </a:pPr>
            <a:r>
              <a:rPr b="1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Nobody </a:t>
            </a:r>
            <a:r>
              <a:rPr b="0" i="0" lang="en-US" sz="1758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solves the actual blocker: fear of damaging the buyer relationship.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2026801" y="3012877"/>
            <a:ext cx="5194250" cy="6131123"/>
          </a:xfrm>
          <a:prstGeom prst="roundRect">
            <a:avLst>
              <a:gd fmla="val 2934" name="adj"/>
            </a:avLst>
          </a:prstGeom>
          <a:solidFill>
            <a:srgbClr val="004C86"/>
          </a:solidFill>
          <a:ln cap="flat" cmpd="sng" w="9525">
            <a:solidFill>
              <a:srgbClr val="004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2436376" y="3441502"/>
            <a:ext cx="457200" cy="57150"/>
          </a:xfrm>
          <a:prstGeom prst="roundRect">
            <a:avLst>
              <a:gd fmla="val 50000" name="adj"/>
            </a:avLst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2436376" y="3784402"/>
            <a:ext cx="45063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Differentiation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2436376" y="4308277"/>
            <a:ext cx="45063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Why your solution wins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2326773" y="4670096"/>
            <a:ext cx="4506353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8"/>
              <a:buFont typeface="Arial"/>
              <a:buNone/>
            </a:pPr>
            <a:r>
              <a:rPr b="1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Pre-Dispute Automation</a:t>
            </a:r>
            <a:r>
              <a:rPr b="0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Captures the overlooked 90 day window between an overdue invoice and active litigation.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8"/>
              <a:buFont typeface="Arial"/>
              <a:buNone/>
            </a:pPr>
            <a:r>
              <a:rPr b="1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Depersonalised chasing -</a:t>
            </a:r>
            <a:r>
              <a:rPr b="0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the AR desk effect: the system asks, not the owner.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8"/>
              <a:buFont typeface="Arial"/>
              <a:buNone/>
            </a:pPr>
            <a:r>
              <a:rPr b="1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Legal layer no app has - </a:t>
            </a:r>
            <a:r>
              <a:rPr b="0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per-invoice eligibility, live interest meter at 3× bank rate, 43B(h) buyer-side nudges, one-tap ODR filing pack.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"/>
              <a:buFont typeface="Arial"/>
              <a:buNone/>
            </a:pPr>
            <a:r>
              <a:t/>
            </a:r>
            <a:endParaRPr b="0" i="0" sz="55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8"/>
              <a:buFont typeface="Arial"/>
              <a:buNone/>
            </a:pPr>
            <a:r>
              <a:rPr b="1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Vernacular-first - </a:t>
            </a:r>
            <a:r>
              <a:rPr b="0" i="0" lang="en-US" sz="17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reminders in the language the trade actually runs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6387614" y="9515475"/>
            <a:ext cx="9097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C86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619125"/>
            <a:ext cx="1770162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14216" y="657225"/>
            <a:ext cx="954584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066800" y="3834854"/>
            <a:ext cx="1663903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B088"/>
                </a:solidFill>
                <a:latin typeface="Arial"/>
                <a:ea typeface="Arial"/>
                <a:cs typeface="Arial"/>
                <a:sym typeface="Arial"/>
              </a:rPr>
              <a:t>THE GEN Z CHALLENGE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066800" y="4396829"/>
            <a:ext cx="16639032" cy="1008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15"/>
              <a:buFont typeface="Arial"/>
              <a:buNone/>
            </a:pPr>
            <a:r>
              <a:rPr b="1" i="0" lang="en-US" sz="721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r>
              <a:rPr b="1" i="0" lang="en-US" sz="7215" u="none" cap="none" strike="noStrike">
                <a:solidFill>
                  <a:srgbClr val="F5642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72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66800" y="5653236"/>
            <a:ext cx="10791825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Arial"/>
              <a:buNone/>
            </a:pPr>
            <a:r>
              <a:rPr b="0" i="0" lang="en-US" sz="2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can't wait to see what you build. Submit your idea and take the first step from idea to MVP to startup.</a:t>
            </a:r>
            <a:endParaRPr b="0" i="0" sz="21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Ideas. Code. Impact.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6369754" y="9515475"/>
            <a:ext cx="92764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